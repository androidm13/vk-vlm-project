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Vision-Language Model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</a:defRPr>
            </a:pPr>
            <a:r>
              <a:rPr dirty="0" err="1"/>
              <a:t>Тонкая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 VLM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открытых</a:t>
            </a:r>
            <a:r>
              <a:rPr dirty="0"/>
              <a:t> </a:t>
            </a:r>
            <a:r>
              <a:rPr dirty="0" err="1"/>
              <a:t>датасетах</a:t>
            </a:r>
            <a:r>
              <a:rPr dirty="0"/>
              <a:t> VK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3025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</a:defRPr>
            </a:pPr>
            <a:r>
              <a:t>GQA-ru · MMBench-ru · LLaVA-Instruct-ru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47425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</a:defRPr>
            </a:pPr>
            <a:r>
              <a:rPr dirty="0" err="1"/>
              <a:t>Модель</a:t>
            </a:r>
            <a:r>
              <a:rPr dirty="0"/>
              <a:t>: </a:t>
            </a:r>
            <a:r>
              <a:rPr dirty="0" err="1"/>
              <a:t>deepvk</a:t>
            </a:r>
            <a:r>
              <a:rPr dirty="0"/>
              <a:t>/llava-gemma-2b-lora | </a:t>
            </a:r>
            <a:r>
              <a:rPr dirty="0" err="1"/>
              <a:t>Метод</a:t>
            </a:r>
            <a:r>
              <a:rPr dirty="0"/>
              <a:t>: </a:t>
            </a:r>
            <a:r>
              <a:rPr dirty="0" err="1"/>
              <a:t>QLoRA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5C20B-D09D-D27D-61A7-F03965B0EE3D}"/>
              </a:ext>
            </a:extLst>
          </p:cNvPr>
          <p:cNvSpPr txBox="1"/>
          <p:nvPr/>
        </p:nvSpPr>
        <p:spPr>
          <a:xfrm>
            <a:off x="1066800" y="5217666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lang="ru-RU" sz="2000" dirty="0"/>
              <a:t>А.Л. </a:t>
            </a:r>
            <a:r>
              <a:rPr lang="ru-RU" sz="2000" dirty="0" err="1"/>
              <a:t>Менчиков</a:t>
            </a:r>
            <a:endParaRPr lang="ru-RU" sz="2000" dirty="0"/>
          </a:p>
          <a:p>
            <a:pPr algn="r">
              <a:defRPr sz="4000" b="1">
                <a:solidFill>
                  <a:srgbClr val="FFFFFF"/>
                </a:solidFill>
              </a:defRPr>
            </a:pPr>
            <a:r>
              <a:rPr lang="ru-RU" sz="2000" dirty="0"/>
              <a:t>ХУСмд-02-2025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</a:defRPr>
            </a:pPr>
            <a: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VLM (Vision-Language Models) — быстро развивающаяся область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Позволяют отвечать на вопросы по изображениям, описывать сцены,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выделять сущности в свободной форме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VK публикует открытые русскоязычные датасеты и модели: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GQA-ru, MMBench-ru, LLaVA-Instruct-ru, llava-gemma-2b-lora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Русскоязычные VLM особенно важны для российского рынка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Fine-tuning на специфичных данных повышает качество ответов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QLoRA позволяет обучать на потребительском GPU (6 ГБ VRAM)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</a:defRPr>
            </a:pPr>
            <a: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Цель: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Получить наиболее высокую метрику (accuracy) на бенчмарках GQA-ru и MMBench-ru путём QLoRA fine-tuning модели deepvk/llava-gemma-2b-lora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Задачи: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1. EDA датасетов GQA-ru, MMBench-ru, LLaVA-Instruct-ru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2. Подготовка обучающих данных из GQA-ru (train_balanced_instructions)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3. QLoRA fine-tuning языковой компоненты (Gemma-2B) с 4-bit квантованием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4. Оценка базовой и дообученной моделей на GQA-ru и MMBench-ru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5. Сравнение метрик и документирование результатов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</a:defRPr>
            </a:pPr>
            <a:r>
              <a:t>Использованные данные VK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</a:defRPr>
            </a:pPr>
            <a:r>
              <a:t>Датасет/Модель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</a:defRPr>
            </a:pPr>
            <a:r>
              <a:t>Размер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</a:defRPr>
            </a:pPr>
            <a:r>
              <a:t>Использование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</a:defRPr>
            </a:pPr>
            <a:r>
              <a:t>Описание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GQA-ru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~40k train / ~12.2k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</a:defRPr>
            </a:pPr>
            <a:r>
              <a:t>Обучение + Оценка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VQA на русском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MMBench-ru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~3.91k rows (dev)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</a:defRPr>
            </a:pPr>
            <a:r>
              <a:t>Оценка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Мультимодальное понимание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LLaVA-Instruct-ru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~144k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</a:defRPr>
            </a:pPr>
            <a:r>
              <a:t>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Инструкционный датасет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llava-gemma-2b-lora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~2B параметров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</a:defRPr>
            </a:pPr>
            <a:r>
              <a:t>Базовая модель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LLaVA + Gemma-2B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BFF"/>
                </a:solidFill>
              </a:defRPr>
            </a:pPr>
            <a:r>
              <a:t>Все данные из коллекции: huggingface.co/collections/deepvk/vision-language-modeling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</a:defRPr>
            </a:pPr>
            <a:r>
              <a:t>Метод: QLoRA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Quantized Low-Rank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4-битное квантование весов (NF4 + double quantization)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LoRA-адаптеры: rank=16, alpha=32, dropout=0.05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Target modules: q_proj, k_proj, v_proj, o_proj,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gate_proj, up_proj, down_proj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Optimizer: paged_adamw_8bit (memory-efficient)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Effective batch size: 8 (batch=1 × grad_accum=8)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Max steps: 500, LR=2e-5, cosine schedule, warmup=20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Gradient checkpointing: включен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C3F7"/>
                </a:solidFill>
              </a:defRPr>
            </a:pPr>
            <a:r>
              <a:t>▶ Max sequence length: 256 токенов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</a:defRPr>
            </a:pPr>
            <a:r>
              <a:t>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Сравнение базовой и дообученной моделей: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</a:defRPr>
            </a:pPr>
            <a:r>
              <a:t>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</a:defRPr>
            </a:pPr>
            <a:r>
              <a:t>GQA-ru (accuracy)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</a:defRPr>
            </a:pPr>
            <a:r>
              <a:t>MMBench-ru (accuracy)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Base (без fine-tuning)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0.4700 (47/100)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0.5700 (57/100)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t>Fine-tuned (QLoRA)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</a:defRPr>
            </a:pPr>
            <a:r>
              <a:t>0.4600 (46/100)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</a:defRPr>
            </a:pPr>
            <a:r>
              <a:t>0.5700 (57/100)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Train loss: 6.34 (9.3 → 5.1 за 100 шагов)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VRAM: ~2.1 ГБ из 6 ГБ (RTX 4050)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Обучающих примеров: 2000 из GQA-ru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Trainable params: 19.6M (0.78%) из 2.5B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</a:defRPr>
            </a:pPr>
            <a:r>
              <a:t>Выводы и направления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</a:defRPr>
            </a:pPr>
            <a:r>
              <a:t>Достижения: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✓ Полный пайплайн от EDA до оценки работает на GPU 6 ГБ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✓ QLoRA позволяет fine-tune VLM без серверного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✓ Все данные и модели — открытые от VK, проект воспроизводим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✓ Сравнение base vs fine-tuned на двух бенчмарках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</a:defRPr>
            </a:pPr>
            <a:r>
              <a:t>Направления улучшения: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→ Обучение с изображениями (train_balanced_images split)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→ Увеличение обучающих данных (40k вместо 2000)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→ Добавление LLaVA-Instruct-ru в обучающий набор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80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→ Grid search гиперпараметров (LoRA rank, LR, steps)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C3F7"/>
                </a:solidFill>
              </a:defRPr>
            </a:pPr>
            <a:r>
              <a:t>Проект на основе открытых данных VK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BFF"/>
                </a:solidFill>
              </a:defRPr>
            </a:pPr>
            <a:r>
              <a:t>huggingface.co/collections/deepvk/vision-language-modeling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551</Words>
  <Application>Microsoft Office PowerPoint</Application>
  <PresentationFormat>Широкоэкранный</PresentationFormat>
  <Paragraphs>86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Andrew Andrew</cp:lastModifiedBy>
  <cp:revision>3</cp:revision>
  <dcterms:created xsi:type="dcterms:W3CDTF">2013-01-27T09:14:16Z</dcterms:created>
  <dcterms:modified xsi:type="dcterms:W3CDTF">2026-07-17T00:14:58Z</dcterms:modified>
  <cp:category/>
</cp:coreProperties>
</file>